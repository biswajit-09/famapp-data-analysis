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B2A33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B2A33"/>
                </a:solidFill>
                <a:latin typeface="Arial"/>
              </a:rPr>
              <a:t>Subscriber survival curve (% still subscribed)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retention</c:v>
                </c:pt>
              </c:strCache>
            </c:strRef>
          </c:tx>
          <c:spPr>
            <a:solidFill>
              <a:srgbClr val="E4572E"/>
            </a:solidFill>
            <a:ln w="38100" cap="flat">
              <a:solidFill>
                <a:srgbClr val="E4572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E4572E"/>
              </a:solidFill>
              <a:ln w="9525" cap="flat">
                <a:solidFill>
                  <a:srgbClr val="E4572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Day 0</c:v>
                  </c:pt>
                  <c:pt idx="1">
                    <c:v>D7</c:v>
                  </c:pt>
                  <c:pt idx="2">
                    <c:v>D30</c:v>
                  </c:pt>
                  <c:pt idx="3">
                    <c:v>D90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98</c:v>
                </c:pt>
                <c:pt idx="2">
                  <c:v>56.8</c:v>
                </c:pt>
                <c:pt idx="3">
                  <c:v>53.6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85% renewal target</c:v>
                </c:pt>
              </c:strCache>
            </c:strRef>
          </c:tx>
          <c:spPr>
            <a:solidFill>
              <a:srgbClr val="5B6B73"/>
            </a:solidFill>
            <a:ln w="38100" cap="flat">
              <a:solidFill>
                <a:srgbClr val="5B6B7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5B6B73"/>
              </a:solidFill>
              <a:ln w="9525" cap="flat">
                <a:solidFill>
                  <a:srgbClr val="5B6B7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Sheet1!$A$2:$A$5</c:f>
              <c:multiLvlStrCache>
                <c:ptCount val="4"/>
                <c:lvl>
                  <c:pt idx="0">
                    <c:v>Day 0</c:v>
                  </c:pt>
                  <c:pt idx="1">
                    <c:v>D7</c:v>
                  </c:pt>
                  <c:pt idx="2">
                    <c:v>D30</c:v>
                  </c:pt>
                  <c:pt idx="3">
                    <c:v>D90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</c:v>
                </c:pt>
                <c:pt idx="1">
                  <c:v>85</c:v>
                </c:pt>
                <c:pt idx="2">
                  <c:v>85</c:v>
                </c:pt>
                <c:pt idx="3">
                  <c:v>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33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73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73"/>
                    </a:solidFill>
                    <a:latin typeface="Arial"/>
                  </a:rPr>
                  <a:t>% of subscribers retained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Arial"/>
              </a:rPr>
              <a:t>Avg. app sessions per user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Retained users</c:v>
                </c:pt>
              </c:strCache>
            </c:strRef>
          </c:tx>
          <c:spPr>
            <a:solidFill>
              <a:srgbClr val="2CA5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Monthly app sessions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27.3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Churned users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Monthly app sessions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33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B2A33"/>
                </a:solidFill>
                <a:latin typeface="Arial"/>
              </a:rPr>
              <a:t>Retention rate by plan type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Retention rate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A33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Monthly</c:v>
                  </c:pt>
                  <c:pt idx="1">
                    <c:v>Annual</c:v>
                  </c:pt>
                  <c:pt idx="2">
                    <c:v>Biannual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53.7</c:v>
                </c:pt>
                <c:pt idx="1">
                  <c:v>23.6</c:v>
                </c:pt>
                <c:pt idx="2">
                  <c:v>22.3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B2A33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1488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7F9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PeakPulse Product Analysis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Diagnosing the Subscriber Retention Gap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49808" y="3794760"/>
            <a:ext cx="20116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3977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Exploration • Problem Identification • Recommendations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585216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Biswa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Analyst Assignment — PeakPulse (Recovery, Strain &amp; Sleep Wearable)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1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Retention collapses in the first 30 days — well short of the 85% goal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60920" y="16916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56.8%</a:t>
            </a:r>
            <a:endParaRPr lang="en-US" sz="4800" dirty="0"/>
          </a:p>
        </p:txBody>
      </p:sp>
      <p:sp>
        <p:nvSpPr>
          <p:cNvPr id="6" name="Text 3"/>
          <p:cNvSpPr txBox="1"/>
          <p:nvPr/>
        </p:nvSpPr>
        <p:spPr>
          <a:xfrm>
            <a:off x="7360920" y="246888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D30 retention, vs. an 85% renewal target — a 28-point gap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360920" y="329184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74%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4069080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churn happens within the first 30 days — the dominant churn window (median cancellation: day 25)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507492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survive the first week fine (98% D7) — the drop-off is concentrated right around the first renewal charge, not at signup.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2 OF 3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 engagement predicts retention — health scores and community features don’t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1206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A58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+85%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120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app opens among retained users — the single strongest behavioral signal we found (correlation r = 0.29)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35040" y="1600200"/>
            <a:ext cx="56235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309360" y="178308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correlation with retention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23317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recovery score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233172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-0.01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2807208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sleep score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418320" y="28072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0.01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6309360" y="328269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strain score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9418320" y="3282696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-0.02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3758184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Device-active minutes/day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9418320" y="3758184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-0.02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6309360" y="42336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/ community membership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9418320" y="423367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42.7% vs 41.8% retained — no lift</a:t>
            </a:r>
            <a:endParaRPr lang="en-US" sz="1250" dirty="0"/>
          </a:p>
        </p:txBody>
      </p:sp>
      <p:sp>
        <p:nvSpPr>
          <p:cNvPr id="19" name="Text 16"/>
          <p:cNvSpPr txBox="1"/>
          <p:nvPr/>
        </p:nvSpPr>
        <p:spPr>
          <a:xfrm>
            <a:off x="6309360" y="47091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Journaling frequency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9418320" y="4709160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0.02</a:t>
            </a:r>
            <a:endParaRPr lang="en-US" sz="125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5321808"/>
            <a:ext cx="5074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wearing the device and generating health data either way — what separates retained from churned users is whether they come back into the app.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3 OF 3 — BUSINESS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Longer commitment plans churn hardest — and the gap is worth ~$690K/yr</a:t>
            </a:r>
            <a:endParaRPr lang="en-US" sz="2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309360" y="169164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457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$893,820/yr</a:t>
            </a:r>
            <a:endParaRPr lang="en-US" sz="3200" dirty="0"/>
          </a:p>
        </p:txBody>
      </p:sp>
      <p:sp>
        <p:nvSpPr>
          <p:cNvPr id="6" name="Text 3"/>
          <p:cNvSpPr txBox="1"/>
          <p:nvPr/>
        </p:nvSpPr>
        <p:spPr>
          <a:xfrm>
            <a:off x="6309360" y="228600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recurring revenue forfeited from subscribers who have already churned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309360" y="30175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$691,000/yr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3611880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revenue opportunity from closing the gap between today’s 41.8% renewal rate and the 85% target (~2,159 additional retained subscribers)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309360" y="461772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$697,740/yr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6309360" y="521208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that forfeited revenue comes from users who churned within 30 days — the single highest-leverage window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data-backed recommendations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423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the Day 8–30 cliff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5468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proactive first-billing-cycle journey: reminder of value earned so far, a personal recovery/sleep recap, and a save offer just before the day-25–30 renewal window, since 74% of churn and $698K/yr in lost revenue concentrate right there.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6552" y="150876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90872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90872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690872" y="2423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app opens, not just device wear</a:t>
            </a:r>
            <a:endParaRPr lang="en-US" sz="1550" dirty="0"/>
          </a:p>
        </p:txBody>
      </p:sp>
      <p:sp>
        <p:nvSpPr>
          <p:cNvPr id="13" name="Text 11"/>
          <p:cNvSpPr txBox="1"/>
          <p:nvPr/>
        </p:nvSpPr>
        <p:spPr>
          <a:xfrm>
            <a:off x="4690872" y="315468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keep wearing the device after they stop opening the app. Ship a weekly insight digest, streaks, and win-back push notifications targeting lapsed openers — app-open frequency is the strongest predictor of retention we found (r = 0.29).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8284464" y="1508760"/>
            <a:ext cx="3611880" cy="45720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2E8EC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558784" y="17830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55878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8558784" y="242316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the annual/biannual mismatch</a:t>
            </a:r>
            <a:endParaRPr lang="en-US" sz="1550" dirty="0"/>
          </a:p>
        </p:txBody>
      </p:sp>
      <p:sp>
        <p:nvSpPr>
          <p:cNvPr id="18" name="Text 16"/>
          <p:cNvSpPr txBox="1"/>
          <p:nvPr/>
        </p:nvSpPr>
        <p:spPr>
          <a:xfrm>
            <a:off x="8558784" y="3154680"/>
            <a:ext cx="306324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and biannual subscribers churn 2–3x more than monthly ones — the opposite of the usual pattern. Run exit interviews with this segment and consider a monthly-first funnel with an opt-in upgrade once engagement is proven.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&amp; SUCCESS METRICS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B2A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we’d measure success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70916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metric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75320" y="1691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10972800" cy="868680"/>
          </a:xfrm>
          <a:prstGeom prst="rect">
            <a:avLst/>
          </a:prstGeom>
          <a:solidFill>
            <a:srgbClr val="EFF5F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217627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Day 8–30 cliff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1762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subscriber retention rate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275320" y="217627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56.8% → 75%+ within 2 quarters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0972800" cy="868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85800" y="304495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Re-engage app opens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30449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subscribers opening app ≥2x/week in first 30 days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8275320" y="304495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→ +20 pts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840480"/>
            <a:ext cx="10972800" cy="868680"/>
          </a:xfrm>
          <a:prstGeom prst="rect">
            <a:avLst/>
          </a:prstGeom>
          <a:solidFill>
            <a:srgbClr val="EFF5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913632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Annual/biannual mismatch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709160" y="39136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D30 retention, annual &amp; biannual cohorts specifically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913632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avg → 45%+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48920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track weekly cohort retention curves (not just a point-in-time rate), and A/B test onboarding-week nudges against a holdout group before full rollout.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11612880" y="644652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486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7F9F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Assumptions &amp; methodology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53619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38988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“Retained” = subscription.is_canceled = False as of the data snapshot (latest subscription_start_date: 2023-06-08). No separate free tier exists in the data, so Part 1’s “free → premium” funnel was reinterpreted as onboarding completion → active subscriber.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249631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35000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pricing terms aren’t stored explicitly. subscription_end_date is only populated for monthly plans; annual/biannual term length was assumed (annual = 12-month term at $300/yr, biannual = 24-month term at $240) based on relative pricing — stated here as an explicit assumption, not a verified fact.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345643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31012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funnel approximated from proxy events: account creation (users.csv) → first app session → calibration_complete flag → first daily_score → currently active.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441655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27024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noted, not yet explained: cancellations spike sharply in the final 2 weeks of the data window (422 and 335/week) while new subscriptions had nearly stopped — could reflect a real event, or a data-export/cutoff artifact. Flagged for follow-up with engineering before acting on it.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5376672"/>
            <a:ext cx="91440" cy="91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5230368"/>
            <a:ext cx="107899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CFE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reasons are close to evenly distributed across categories (10–12% each) and didn’t meaningfully differ by plan type — treated as a weak signal versus the timing and engagement patterns above.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093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code (Python/pandas): 01_explore.py – 06_business_impact.py, submitted alongside this presentation.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2026-09-10T18:39:10Z</dcterms:created>
  <dcterms:modified xsi:type="dcterms:W3CDTF">2026-09-10T18:39:10Z</dcterms:modified>
</cp:coreProperties>
</file>